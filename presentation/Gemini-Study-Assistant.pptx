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7ecf9a142e94651" /><Relationship Type="http://schemas.openxmlformats.org/officeDocument/2006/relationships/extended-properties" Target="/docProps/app.xml" Id="Rd7280f4084344ef0" /><Relationship Type="http://schemas.openxmlformats.org/officeDocument/2006/relationships/officeDocument" Target="/ppt/presentation.xml" Id="Rfeff6123719348f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3e1cb323fea462a"/>
  </p:sldMasterIdLst>
  <p:notesMasterIdLst>
    <p:notesMasterId xmlns:r="http://schemas.openxmlformats.org/officeDocument/2006/relationships" r:id="R89b10bae46e24f12"/>
  </p:notesMasterIdLst>
  <p:sldIdLst>
    <p:sldId xmlns:r="http://schemas.openxmlformats.org/officeDocument/2006/relationships" id="256" r:id="R4282983e3b7c41d9"/>
    <p:sldId xmlns:r="http://schemas.openxmlformats.org/officeDocument/2006/relationships" id="257" r:id="R683080161e1a480f"/>
    <p:sldId xmlns:r="http://schemas.openxmlformats.org/officeDocument/2006/relationships" id="258" r:id="Rd31d6318867e445e"/>
    <p:sldId xmlns:r="http://schemas.openxmlformats.org/officeDocument/2006/relationships" id="259" r:id="R94ecba83131e4f39"/>
    <p:sldId xmlns:r="http://schemas.openxmlformats.org/officeDocument/2006/relationships" id="260" r:id="Ra1f56d4b73824beb"/>
    <p:sldId xmlns:r="http://schemas.openxmlformats.org/officeDocument/2006/relationships" id="261" r:id="R5ec9d718acfc433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5a2ae653c3c4ca5" /><Relationship Type="http://schemas.openxmlformats.org/officeDocument/2006/relationships/slideMaster" Target="/ppt/slideMasters/slideMaster1.xml" Id="R23e1cb323fea462a" /><Relationship Type="http://schemas.openxmlformats.org/officeDocument/2006/relationships/notesMaster" Target="/ppt/notesMasters/notesMaster1.xml" Id="R89b10bae46e24f12" /><Relationship Type="http://schemas.openxmlformats.org/officeDocument/2006/relationships/presProps" Target="/ppt/presProps.xml" Id="R1758ad4386894a8a" /><Relationship Type="http://schemas.openxmlformats.org/officeDocument/2006/relationships/tableStyles" Target="/ppt/tableStyles.xml" Id="R8bbfd3fa05b24491" /><Relationship Type="http://schemas.openxmlformats.org/officeDocument/2006/relationships/slide" Target="/ppt/slides/slide1.xml" Id="R4282983e3b7c41d9" /><Relationship Type="http://schemas.openxmlformats.org/officeDocument/2006/relationships/slide" Target="/ppt/slides/slide2.xml" Id="R683080161e1a480f" /><Relationship Type="http://schemas.openxmlformats.org/officeDocument/2006/relationships/slide" Target="/ppt/slides/slide3.xml" Id="Rd31d6318867e445e" /><Relationship Type="http://schemas.openxmlformats.org/officeDocument/2006/relationships/slide" Target="/ppt/slides/slide4.xml" Id="R94ecba83131e4f39" /><Relationship Type="http://schemas.openxmlformats.org/officeDocument/2006/relationships/slide" Target="/ppt/slides/slide5.xml" Id="Ra1f56d4b73824beb" /><Relationship Type="http://schemas.openxmlformats.org/officeDocument/2006/relationships/slide" Target="/ppt/slides/slide6.xml" Id="R5ec9d718acfc433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b5aab957ecb400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66942f723e544f7" /><Relationship Type="http://schemas.openxmlformats.org/officeDocument/2006/relationships/notesMaster" Target="/ppt/notesMasters/notesMaster1.xml" Id="Rce4d10b34953474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c6dd4dba9f344f7" /><Relationship Type="http://schemas.openxmlformats.org/officeDocument/2006/relationships/notesMaster" Target="/ppt/notesMasters/notesMaster1.xml" Id="R70ba708e20e84e1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4ffc2d51f7d40c1" /><Relationship Type="http://schemas.openxmlformats.org/officeDocument/2006/relationships/notesMaster" Target="/ppt/notesMasters/notesMaster1.xml" Id="Rbb4535366353458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c414fd3d40345f1" /><Relationship Type="http://schemas.openxmlformats.org/officeDocument/2006/relationships/notesMaster" Target="/ppt/notesMasters/notesMaster1.xml" Id="R77c68dda485b429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c5ae4726e5447e1" /><Relationship Type="http://schemas.openxmlformats.org/officeDocument/2006/relationships/notesMaster" Target="/ppt/notesMasters/notesMaster1.xml" Id="Rd38660ef14704d8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e896c29ad4546c7" /><Relationship Type="http://schemas.openxmlformats.org/officeDocument/2006/relationships/notesMaster" Target="/ppt/notesMasters/notesMaster1.xml" Id="R4d552c82d8ac41f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Autores: Lucas Cabrio - 04723-133 e Paulo Esteves - 04723-090. Apresentação do produto acadêmico Gemini Study Assistant. O projeto integra React Native/Expo Web, API própria Node.js/Express e Google Gemini.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 interface permite inserir conteúdo, escolher uma atividade e gerar material de estudo. O quiz revela correção e justificativa após a seleção. Imagem: docs/screenshots/01-inicio.png, captura real da interface Expo Web validada pelo usuário.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Arquitetura documentada em docs/architecture.md. A API normaliza o conteúdo, limita as solicitações e valida entrada e saída com Zod. A chave fica somente no ambiente do backend. As quantidades se aplicam a revisão e quiz. O SDK tem timeout de 30 segundos e sinal de cancelamento de 32 segundos; o frontend limita a espera a 38 segundos.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Integração real por meio do SDK oficial @google/genai. O backend pede JSON Schema e verifica o resultado com Zod, incluindo quantidade de questões e alternativas distintas. Código: backend/src/gemini.ts e backend/src/study.ts. Modelo disponível e testado no projeto: gemini-3.1-flash-lite. Documentação oficial: https://ai.google.dev/gemini-api/docs/pricing#gemini-3.1-flash-lite e https://ai.google.dev/gemini-api/docs/structured-output.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Capturas reais produzidas pelo QA no Chrome, com respostas da integração Google Gemini: docs/screenshots/07-resumo-detalhe.png e docs/screenshots/06-quiz-detalhe.png. O segundo recorte mostra a primeira questão e o feedback correto. A aplicação também apresenta erros, gabarito, pontuação final e reinício do quiz.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Evidências: docs/qa.md. Os testes unitários e HTTP usam mocks; as quatro atividades foram testadas separadamente com Gemini real no navegador. Tecnologias: React Native, Expo, TypeScript, Express, Zod, SDK @google/genai, Vitest, Supertest e Playwright. Histórico e acompanhamento são possibilidades futuras, não funcionalidades implementadas. O projeto não inclui autenticação ou persistência e não teve validação em dispositivos Android/iOS físicos.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41e327391654d82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a49cea51223488c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88b0e34db174264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8daffe86d0d4a8c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203c4a645a844b7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5f313d877554b0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335DCDD-CE3E-4FFE-BD79-2F5031290ED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2036EDED-4C41-4A51-9010-27DF316EE0F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279DAC23-775A-447D-B817-71A9CA9D80F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D98F889-20BE-413B-A574-6C7F9041A02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61399154-B3E8-4102-B8B4-1DFF5E2FC53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DFC8D397-B2D0-47BF-A947-45CE24FF84D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FF5BE58D-8DB6-4E1F-96BA-DB01C5E4771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1629F4A9-C106-48A7-8443-B3E52FD65A1C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3516906-F077-4233-9AC4-6E50C2AF624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7A312FE3-0A72-4ECE-928C-EF13DBDEF39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2b60eaeb3b54587" /><Relationship Type="http://schemas.openxmlformats.org/officeDocument/2006/relationships/slideLayout" Target="/ppt/slideLayouts/slideLayout1.xml" Id="Rb571e5060a9e4c05" /><Relationship Type="http://schemas.openxmlformats.org/officeDocument/2006/relationships/slideLayout" Target="/ppt/slideLayouts/slideLayout2.xml" Id="R21e8355abeff46f6" /><Relationship Type="http://schemas.openxmlformats.org/officeDocument/2006/relationships/slideLayout" Target="/ppt/slideLayouts/slideLayout3.xml" Id="R3d364bdfeb114724" /><Relationship Type="http://schemas.openxmlformats.org/officeDocument/2006/relationships/slideLayout" Target="/ppt/slideLayouts/slideLayout4.xml" Id="R1ea1e7a814b24fb5" /><Relationship Type="http://schemas.openxmlformats.org/officeDocument/2006/relationships/slideLayout" Target="/ppt/slideLayouts/slideLayout5.xml" Id="Rc351ccc575584632" /><Relationship Type="http://schemas.openxmlformats.org/officeDocument/2006/relationships/slideLayout" Target="/ppt/slideLayouts/slideLayout6.xml" Id="R4946636150374b8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571e5060a9e4c05"/>
    <p:sldLayoutId xmlns:r="http://schemas.openxmlformats.org/officeDocument/2006/relationships" id="2147483650" r:id="R21e8355abeff46f6"/>
    <p:sldLayoutId xmlns:r="http://schemas.openxmlformats.org/officeDocument/2006/relationships" id="2147483651" r:id="R3d364bdfeb114724"/>
    <p:sldLayoutId xmlns:r="http://schemas.openxmlformats.org/officeDocument/2006/relationships" id="2147483652" r:id="R1ea1e7a814b24fb5"/>
    <p:sldLayoutId xmlns:r="http://schemas.openxmlformats.org/officeDocument/2006/relationships" id="2147483653" r:id="Rc351ccc575584632"/>
    <p:sldLayoutId xmlns:r="http://schemas.openxmlformats.org/officeDocument/2006/relationships" id="2147483654" r:id="R4946636150374b8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15c153bb62c4ffe" /><Relationship Type="http://schemas.openxmlformats.org/officeDocument/2006/relationships/notesSlide" Target="/ppt/notesSlides/notesSlide1.xml" Id="R97c37b8e7cea47e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7ca8e4d7dc44ac7" /><Relationship Type="http://schemas.openxmlformats.org/officeDocument/2006/relationships/image" Target="/ppt/media/image.png" Id="Re56c3940d2de40d8" /><Relationship Type="http://schemas.openxmlformats.org/officeDocument/2006/relationships/notesSlide" Target="/ppt/notesSlides/notesSlide2.xml" Id="R3289a1f817584a1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27183eefd644203" /><Relationship Type="http://schemas.openxmlformats.org/officeDocument/2006/relationships/notesSlide" Target="/ppt/notesSlides/notesSlide3.xml" Id="R5919b0a3e6ea40b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d356ad2e2274ce5" /><Relationship Type="http://schemas.openxmlformats.org/officeDocument/2006/relationships/notesSlide" Target="/ppt/notesSlides/notesSlide4.xml" Id="R5e4f145e620d4af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4d9ff93a5ce4f65" /><Relationship Type="http://schemas.openxmlformats.org/officeDocument/2006/relationships/image" Target="/ppt/media/image2.png" Id="Rced8db87568f4b6e" /><Relationship Type="http://schemas.openxmlformats.org/officeDocument/2006/relationships/image" Target="/ppt/media/image3.png" Id="R29b66062f77e4007" /><Relationship Type="http://schemas.openxmlformats.org/officeDocument/2006/relationships/notesSlide" Target="/ppt/notesSlides/notesSlide5.xml" Id="R5ea8ec11b1a44ed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2b356ef3c50472f" /><Relationship Type="http://schemas.openxmlformats.org/officeDocument/2006/relationships/notesSlide" Target="/ppt/notesSlides/notesSlide6.xml" Id="Rcfccf20d4192498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E862A84-784F-4943-9D8D-619F98635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10668000" cy="182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5400" b="1">
                <a:solidFill>
                  <a:srgbClr val="1C2D3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5400" b="1">
                <a:solidFill>
                  <a:srgbClr val="1C2D3F"/>
                </a:solidFill>
                <a:latin typeface="Arial"/>
                <a:ea typeface="Arial"/>
                <a:cs typeface="Arial"/>
              </a:defRPr>
            </a:pPr>
            <a:r>
              <a:rPr sz="5400" b="1">
                <a:solidFill>
                  <a:srgbClr val="1C2D3F"/>
                </a:solidFill>
                <a:latin typeface="Arial"/>
                <a:ea typeface="Arial"/>
                <a:cs typeface="Arial"/>
              </a:rPr>
              <a:t>Gemini Study</a:t>
            </a:r>
          </a:p>
          <a:p xmlns:a="http://schemas.openxmlformats.org/drawingml/2006/main">
            <a:pPr>
              <a:defRPr sz="5400" b="1">
                <a:solidFill>
                  <a:srgbClr val="1C2D3F"/>
                </a:solidFill>
                <a:latin typeface="Arial"/>
                <a:ea typeface="Arial"/>
                <a:cs typeface="Arial"/>
              </a:defRPr>
            </a:pPr>
            <a:r>
              <a:rPr sz="5400" b="1">
                <a:solidFill>
                  <a:srgbClr val="1C2D3F"/>
                </a:solidFill>
                <a:latin typeface="Arial"/>
                <a:ea typeface="Arial"/>
                <a:cs typeface="Arial"/>
              </a:rPr>
              <a:t>Assistant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7B84E56-10A2-4857-8378-060E5ACFE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38500"/>
            <a:ext cx="10096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75" b="0">
                <a:solidFill>
                  <a:srgbClr val="24568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24568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45680"/>
                </a:solidFill>
                <a:latin typeface="Arial"/>
                <a:ea typeface="Arial"/>
                <a:cs typeface="Arial"/>
              </a:rPr>
              <a:t>Produto com integração à API Gemini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9526C58-7020-45A5-8EFE-D10A05BEE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7675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0">
                <a:solidFill>
                  <a:srgbClr val="1C2D3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C2D3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C2D3F"/>
                </a:solidFill>
                <a:latin typeface="Arial"/>
                <a:ea typeface="Arial"/>
                <a:cs typeface="Arial"/>
              </a:rPr>
              <a:t>Lucas Cabrio - 04723-133</a:t>
            </a:r>
          </a:p>
          <a:p xmlns:a="http://schemas.openxmlformats.org/drawingml/2006/main">
            <a:pPr>
              <a:defRPr sz="2025" b="0">
                <a:solidFill>
                  <a:srgbClr val="1C2D3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C2D3F"/>
                </a:solidFill>
                <a:latin typeface="Arial"/>
                <a:ea typeface="Arial"/>
                <a:cs typeface="Arial"/>
              </a:rPr>
              <a:t>Paulo Esteves - 04723-090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745914-CC58-410D-86AD-0E860AC71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943600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5261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526173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26173"/>
                </a:solidFill>
                <a:latin typeface="Arial"/>
                <a:ea typeface="Arial"/>
                <a:cs typeface="Arial"/>
              </a:rPr>
              <a:t>Projeto acadêmico</a:t>
            </a:r>
          </a:p>
        </p:txBody>
      </p:sp>
    </p:spTree>
    <p:extLst>
      <p:ext uri="{BB962C8B-B14F-4D97-AF65-F5344CB8AC3E}">
        <p14:creationId xmlns:p14="http://schemas.microsoft.com/office/powerpoint/2010/main" val="150832048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8C8D8F5-946E-493F-A1EF-68666B67E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225" b="1">
                <a:solidFill>
                  <a:srgbClr val="1C2D3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1C2D3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C2D3F"/>
                </a:solidFill>
                <a:latin typeface="Arial"/>
                <a:ea typeface="Arial"/>
                <a:cs typeface="Arial"/>
              </a:rPr>
              <a:t>Conceito do produto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46F3E23-337B-43B8-9121-562AC4158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3810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00" b="1">
                <a:solidFill>
                  <a:srgbClr val="24568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24568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245680"/>
                </a:solidFill>
                <a:latin typeface="Arial"/>
                <a:ea typeface="Arial"/>
                <a:cs typeface="Arial"/>
              </a:rPr>
              <a:t>Problema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918451-72AE-4C70-B7E0-5CE117761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47875"/>
            <a:ext cx="4191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1C2D3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C2D3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C2D3F"/>
                </a:solidFill>
                <a:latin typeface="Arial"/>
                <a:ea typeface="Arial"/>
                <a:cs typeface="Arial"/>
              </a:rPr>
              <a:t>Organizar anotações e preparar</a:t>
            </a:r>
          </a:p>
          <a:p xmlns:a="http://schemas.openxmlformats.org/drawingml/2006/main">
            <a:pPr>
              <a:defRPr sz="1875" b="0">
                <a:solidFill>
                  <a:srgbClr val="1C2D3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C2D3F"/>
                </a:solidFill>
                <a:latin typeface="Arial"/>
                <a:ea typeface="Arial"/>
                <a:cs typeface="Arial"/>
              </a:rPr>
              <a:t>atividades de revisão exige tempo.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C118E3-01D7-453D-AA04-56A3C836D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09925"/>
            <a:ext cx="3810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00" b="1">
                <a:solidFill>
                  <a:srgbClr val="24568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24568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245680"/>
                </a:solidFill>
                <a:latin typeface="Arial"/>
                <a:ea typeface="Arial"/>
                <a:cs typeface="Arial"/>
              </a:rPr>
              <a:t>Proposta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F657752-5D6D-46A5-AE8D-FB51FF3F6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05225"/>
            <a:ext cx="4191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1C2D3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C2D3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C2D3F"/>
                </a:solidFill>
                <a:latin typeface="Arial"/>
                <a:ea typeface="Arial"/>
                <a:cs typeface="Arial"/>
              </a:rPr>
              <a:t>Transformar textos e temas em</a:t>
            </a:r>
          </a:p>
          <a:p xmlns:a="http://schemas.openxmlformats.org/drawingml/2006/main">
            <a:pPr>
              <a:defRPr sz="1875" b="0">
                <a:solidFill>
                  <a:srgbClr val="1C2D3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C2D3F"/>
                </a:solidFill>
                <a:latin typeface="Arial"/>
                <a:ea typeface="Arial"/>
                <a:cs typeface="Arial"/>
              </a:rPr>
              <a:t>material de estudo estruturado.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9CC1C75-8DEF-4F2D-8835-BBCE4C264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86350"/>
            <a:ext cx="423862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1">
                <a:solidFill>
                  <a:srgbClr val="1C2D3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1C2D3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C2D3F"/>
                </a:solidFill>
                <a:latin typeface="Arial"/>
                <a:ea typeface="Arial"/>
                <a:cs typeface="Arial"/>
              </a:rPr>
              <a:t>Resumo e explicação</a:t>
            </a:r>
          </a:p>
          <a:p xmlns:a="http://schemas.openxmlformats.org/drawingml/2006/main">
            <a:pPr>
              <a:defRPr sz="1950" b="1">
                <a:solidFill>
                  <a:srgbClr val="1C2D3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C2D3F"/>
                </a:solidFill>
                <a:latin typeface="Arial"/>
                <a:ea typeface="Arial"/>
                <a:cs typeface="Arial"/>
              </a:rPr>
              <a:t>Questões de revisão e quiz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138BE18-C4BB-4D16-BA4E-CBB54EBADA2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6c3940d2de40d8"/>
          <a:stretch xmlns:a="http://schemas.openxmlformats.org/drawingml/2006/main"/>
        </p:blipFill>
        <p:spPr>
          <a:xfrm xmlns:a="http://schemas.openxmlformats.org/drawingml/2006/main">
            <a:off x="5243593" y="1381125"/>
            <a:ext cx="6276814" cy="5143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654109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62D25CB-3422-4EFD-8F6B-1E70E664E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225" b="1">
                <a:solidFill>
                  <a:srgbClr val="1C2D3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1C2D3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C2D3F"/>
                </a:solidFill>
                <a:latin typeface="Arial"/>
                <a:ea typeface="Arial"/>
                <a:cs typeface="Arial"/>
              </a:rPr>
              <a:t>Arquitetura da aplicação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533FF10-7F8F-46A1-BF3E-521AB87A8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90625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5261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52617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26173"/>
                </a:solidFill>
                <a:latin typeface="Arial"/>
                <a:ea typeface="Arial"/>
                <a:cs typeface="Arial"/>
              </a:rPr>
              <a:t>Três camadas com responsabilidades definidas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09CAA3F-8A5C-4A2E-B67C-34FB45589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90750"/>
            <a:ext cx="314325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4FA"/>
          </a:solidFill>
          <a:ln xmlns:a="http://schemas.openxmlformats.org/drawingml/2006/main" w="9525">
            <a:solidFill>
              <a:srgbClr val="CBD5DF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39EBCB-A709-46B3-BE56-DC7DD58CB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90775"/>
            <a:ext cx="2762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00" b="1">
                <a:solidFill>
                  <a:srgbClr val="24568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24568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245680"/>
                </a:solidFill>
                <a:latin typeface="Arial"/>
                <a:ea typeface="Arial"/>
                <a:cs typeface="Arial"/>
              </a:rPr>
              <a:t>React Native / Expo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46A1D0-49F1-42B2-9D91-72B0749B3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86100"/>
            <a:ext cx="276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5261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526173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26173"/>
                </a:solidFill>
                <a:latin typeface="Arial"/>
                <a:ea typeface="Arial"/>
                <a:cs typeface="Arial"/>
              </a:rPr>
              <a:t>Interface web responsiva</a:t>
            </a:r>
          </a:p>
          <a:p xmlns:a="http://schemas.openxmlformats.org/drawingml/2006/main">
            <a:pPr>
              <a:defRPr sz="1650" b="0">
                <a:solidFill>
                  <a:srgbClr val="526173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26173"/>
                </a:solidFill>
                <a:latin typeface="Arial"/>
                <a:ea typeface="Arial"/>
                <a:cs typeface="Arial"/>
              </a:rPr>
              <a:t>Estado e interação do quiz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AE2A821-E448-4D06-9695-0FC987AB8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190750"/>
            <a:ext cx="314325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4FA"/>
          </a:solidFill>
          <a:ln xmlns:a="http://schemas.openxmlformats.org/drawingml/2006/main" w="9525">
            <a:solidFill>
              <a:srgbClr val="CBD5DF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CFC189-B10F-47FC-A49D-BB604C4D8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2390775"/>
            <a:ext cx="2762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00" b="1">
                <a:solidFill>
                  <a:srgbClr val="24568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24568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245680"/>
                </a:solidFill>
                <a:latin typeface="Arial"/>
                <a:ea typeface="Arial"/>
                <a:cs typeface="Arial"/>
              </a:rPr>
              <a:t>Node.js / Express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AA4B1C3-B588-44E1-87F0-5A47CB6A6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3086100"/>
            <a:ext cx="276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5261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526173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26173"/>
                </a:solidFill>
                <a:latin typeface="Arial"/>
                <a:ea typeface="Arial"/>
                <a:cs typeface="Arial"/>
              </a:rPr>
              <a:t>API própria em TypeScript</a:t>
            </a:r>
          </a:p>
          <a:p xmlns:a="http://schemas.openxmlformats.org/drawingml/2006/main">
            <a:pPr>
              <a:defRPr sz="1650" b="0">
                <a:solidFill>
                  <a:srgbClr val="526173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26173"/>
                </a:solidFill>
                <a:latin typeface="Arial"/>
                <a:ea typeface="Arial"/>
                <a:cs typeface="Arial"/>
              </a:rPr>
              <a:t>Validação e erros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20E26E6-5CDB-4269-8836-0F3AA09B5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190750"/>
            <a:ext cx="314325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4FA"/>
          </a:solidFill>
          <a:ln xmlns:a="http://schemas.openxmlformats.org/drawingml/2006/main" w="9525">
            <a:solidFill>
              <a:srgbClr val="CBD5DF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1A9E0EF-3030-4C10-B5E0-F5D0B710F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390775"/>
            <a:ext cx="2762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00" b="1">
                <a:solidFill>
                  <a:srgbClr val="24568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24568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245680"/>
                </a:solidFill>
                <a:latin typeface="Arial"/>
                <a:ea typeface="Arial"/>
                <a:cs typeface="Arial"/>
              </a:rPr>
              <a:t>Google Gemini API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023302E-980C-4951-A9C9-AD7C6AC4F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086100"/>
            <a:ext cx="276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5261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526173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26173"/>
                </a:solidFill>
                <a:latin typeface="Arial"/>
                <a:ea typeface="Arial"/>
                <a:cs typeface="Arial"/>
              </a:rPr>
              <a:t>Geração de conteúdo</a:t>
            </a:r>
          </a:p>
          <a:p xmlns:a="http://schemas.openxmlformats.org/drawingml/2006/main">
            <a:pPr>
              <a:defRPr sz="1650" b="0">
                <a:solidFill>
                  <a:srgbClr val="526173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26173"/>
                </a:solidFill>
                <a:latin typeface="Arial"/>
                <a:ea typeface="Arial"/>
                <a:cs typeface="Arial"/>
              </a:rPr>
              <a:t>Respostas em JSON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9098FE6-64DD-467B-A7DC-F43B2655B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2667000"/>
            <a:ext cx="533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0">
                <a:solidFill>
                  <a:srgbClr val="24568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0">
                <a:solidFill>
                  <a:srgbClr val="245680"/>
                </a:solidFill>
                <a:latin typeface="Arial"/>
                <a:ea typeface="Arial"/>
                <a:cs typeface="Arial"/>
              </a:defRPr>
            </a:pPr>
            <a:r>
              <a:rPr sz="3150" b="0">
                <a:solidFill>
                  <a:srgbClr val="245680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A1E880A-500D-4FFA-9841-C6E7699F3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667000"/>
            <a:ext cx="533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0">
                <a:solidFill>
                  <a:srgbClr val="24568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0">
                <a:solidFill>
                  <a:srgbClr val="245680"/>
                </a:solidFill>
                <a:latin typeface="Arial"/>
                <a:ea typeface="Arial"/>
                <a:cs typeface="Arial"/>
              </a:defRPr>
            </a:pPr>
            <a:r>
              <a:rPr sz="3150" b="0">
                <a:solidFill>
                  <a:srgbClr val="245680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ABCB42C-4400-400A-820C-9C2BF8D3D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00" b="1">
                <a:solidFill>
                  <a:srgbClr val="24568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24568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245680"/>
                </a:solidFill>
                <a:latin typeface="Arial"/>
                <a:ea typeface="Arial"/>
                <a:cs typeface="Arial"/>
              </a:rPr>
              <a:t>Regras da API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1FDED56-4681-4D67-913B-A29648CA8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19675"/>
            <a:ext cx="242887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0">
                <a:solidFill>
                  <a:srgbClr val="1C2D3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1C2D3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C2D3F"/>
                </a:solidFill>
                <a:latin typeface="Arial"/>
                <a:ea typeface="Arial"/>
                <a:cs typeface="Arial"/>
              </a:rPr>
              <a:t>20 a 12.000</a:t>
            </a:r>
          </a:p>
          <a:p xmlns:a="http://schemas.openxmlformats.org/drawingml/2006/main">
            <a:pPr>
              <a:defRPr sz="1950" b="0">
                <a:solidFill>
                  <a:srgbClr val="1C2D3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C2D3F"/>
                </a:solidFill>
                <a:latin typeface="Arial"/>
                <a:ea typeface="Arial"/>
                <a:cs typeface="Arial"/>
              </a:rPr>
              <a:t>caracteres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2C63016-AD1C-4883-A61E-60F6FC325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5019675"/>
            <a:ext cx="233362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0">
                <a:solidFill>
                  <a:srgbClr val="1C2D3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1C2D3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C2D3F"/>
                </a:solidFill>
                <a:latin typeface="Arial"/>
                <a:ea typeface="Arial"/>
                <a:cs typeface="Arial"/>
              </a:rPr>
              <a:t>2 a 5</a:t>
            </a:r>
          </a:p>
          <a:p xmlns:a="http://schemas.openxmlformats.org/drawingml/2006/main">
            <a:pPr>
              <a:defRPr sz="1950" b="0">
                <a:solidFill>
                  <a:srgbClr val="1C2D3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C2D3F"/>
                </a:solidFill>
                <a:latin typeface="Arial"/>
                <a:ea typeface="Arial"/>
                <a:cs typeface="Arial"/>
              </a:rPr>
              <a:t>perguntas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572CF17-CB6D-4927-82B9-11AEB47AF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5019675"/>
            <a:ext cx="233362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0">
                <a:solidFill>
                  <a:srgbClr val="1C2D3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1C2D3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C2D3F"/>
                </a:solidFill>
                <a:latin typeface="Arial"/>
                <a:ea typeface="Arial"/>
                <a:cs typeface="Arial"/>
              </a:rPr>
              <a:t>4 alternativas</a:t>
            </a:r>
          </a:p>
          <a:p xmlns:a="http://schemas.openxmlformats.org/drawingml/2006/main">
            <a:pPr>
              <a:defRPr sz="1950" b="0">
                <a:solidFill>
                  <a:srgbClr val="1C2D3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C2D3F"/>
                </a:solidFill>
                <a:latin typeface="Arial"/>
                <a:ea typeface="Arial"/>
                <a:cs typeface="Arial"/>
              </a:rPr>
              <a:t>por questão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7C649AB-7A55-4240-9220-0DE2A3EC5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0675" y="5019675"/>
            <a:ext cx="237172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0">
                <a:solidFill>
                  <a:srgbClr val="1C2D3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1C2D3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C2D3F"/>
                </a:solidFill>
                <a:latin typeface="Arial"/>
                <a:ea typeface="Arial"/>
                <a:cs typeface="Arial"/>
              </a:rPr>
              <a:t>30 segundos</a:t>
            </a:r>
          </a:p>
          <a:p xmlns:a="http://schemas.openxmlformats.org/drawingml/2006/main">
            <a:pPr>
              <a:defRPr sz="1950" b="0">
                <a:solidFill>
                  <a:srgbClr val="1C2D3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C2D3F"/>
                </a:solidFill>
                <a:latin typeface="Arial"/>
                <a:ea typeface="Arial"/>
                <a:cs typeface="Arial"/>
              </a:rPr>
              <a:t>de timeout no SDK</a:t>
            </a:r>
          </a:p>
        </p:txBody>
      </p:sp>
    </p:spTree>
    <p:extLst>
      <p:ext uri="{BB962C8B-B14F-4D97-AF65-F5344CB8AC3E}">
        <p14:creationId xmlns:p14="http://schemas.microsoft.com/office/powerpoint/2010/main" val="142311930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C54C7CF-2515-4D32-A796-958EE74E0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225" b="1">
                <a:solidFill>
                  <a:srgbClr val="1C2D3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1C2D3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C2D3F"/>
                </a:solidFill>
                <a:latin typeface="Arial"/>
                <a:ea typeface="Arial"/>
                <a:cs typeface="Arial"/>
              </a:rPr>
              <a:t>Integração com Gemini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DDFE69F-3A62-458E-BE37-095EC0326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85900"/>
            <a:ext cx="5238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1">
                <a:solidFill>
                  <a:srgbClr val="24568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24568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45680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9AA793-CA89-47AE-B46B-F37AAAA82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1485900"/>
            <a:ext cx="6048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1C2D3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C2D3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C2D3F"/>
                </a:solidFill>
                <a:latin typeface="Arial"/>
                <a:ea typeface="Arial"/>
                <a:cs typeface="Arial"/>
              </a:rPr>
              <a:t>Usuário informa o conteúdo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013A25-C02E-4FA1-8971-03AF66CDE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14550"/>
            <a:ext cx="5238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1">
                <a:solidFill>
                  <a:srgbClr val="24568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24568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45680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2BDBE37-E622-4AFF-A8D8-4219AC624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2114550"/>
            <a:ext cx="6048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1C2D3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C2D3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C2D3F"/>
                </a:solidFill>
                <a:latin typeface="Arial"/>
                <a:ea typeface="Arial"/>
                <a:cs typeface="Arial"/>
              </a:rPr>
              <a:t>Frontend chama nossa API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E24C92B-E210-4F0D-B102-EFB5BC180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43200"/>
            <a:ext cx="5238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1">
                <a:solidFill>
                  <a:srgbClr val="24568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24568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45680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CC62A32-8B82-4D8E-98B3-27148C83A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2743200"/>
            <a:ext cx="6048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1C2D3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C2D3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C2D3F"/>
                </a:solidFill>
                <a:latin typeface="Arial"/>
                <a:ea typeface="Arial"/>
                <a:cs typeface="Arial"/>
              </a:rPr>
              <a:t>Backend valida a entrada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025D57A-2D18-4BA5-94A9-584721C50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71850"/>
            <a:ext cx="5238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1">
                <a:solidFill>
                  <a:srgbClr val="24568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24568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45680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2968522-7EEF-4881-BF59-36DFD7BBC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3371850"/>
            <a:ext cx="6048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1C2D3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C2D3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C2D3F"/>
                </a:solidFill>
                <a:latin typeface="Arial"/>
                <a:ea typeface="Arial"/>
                <a:cs typeface="Arial"/>
              </a:rPr>
              <a:t>Backend monta o prompt da atividade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8791713-AE6C-437D-BD03-D322504CA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0"/>
            <a:ext cx="5238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1">
                <a:solidFill>
                  <a:srgbClr val="24568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24568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45680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F3504DB-257B-4CDA-9028-361AD8EAA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4000500"/>
            <a:ext cx="6048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1C2D3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C2D3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C2D3F"/>
                </a:solidFill>
                <a:latin typeface="Arial"/>
                <a:ea typeface="Arial"/>
                <a:cs typeface="Arial"/>
              </a:rPr>
              <a:t>Gemini gera a resposta em JSON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D8BEE9C-B392-41D0-BC42-25A7F16D1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29150"/>
            <a:ext cx="5238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1">
                <a:solidFill>
                  <a:srgbClr val="24568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24568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45680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C0C516A-5759-479C-8FD6-EBF295876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4629150"/>
            <a:ext cx="6048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1C2D3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C2D3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C2D3F"/>
                </a:solidFill>
                <a:latin typeface="Arial"/>
                <a:ea typeface="Arial"/>
                <a:cs typeface="Arial"/>
              </a:rPr>
              <a:t>Backend verifica o resultado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4704EAA-4C7C-45D7-823F-666AF4172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57800"/>
            <a:ext cx="5238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1">
                <a:solidFill>
                  <a:srgbClr val="24568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24568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45680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033BE30-8C22-46AC-AB69-17E06530D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5257800"/>
            <a:ext cx="6048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1C2D3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C2D3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C2D3F"/>
                </a:solidFill>
                <a:latin typeface="Arial"/>
                <a:ea typeface="Arial"/>
                <a:cs typeface="Arial"/>
              </a:rPr>
              <a:t>Frontend apresenta o material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5441C56-6B80-4857-9D2C-F5CC012C2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1638300"/>
            <a:ext cx="3619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325" b="1">
                <a:solidFill>
                  <a:srgbClr val="24568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325" b="1">
                <a:solidFill>
                  <a:srgbClr val="245680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245680"/>
                </a:solidFill>
                <a:latin typeface="Arial"/>
                <a:ea typeface="Arial"/>
                <a:cs typeface="Arial"/>
              </a:rPr>
              <a:t>Gemini 3.1 Flash-Lite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8D12634-D38B-45DF-AFB8-E70B99F70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857500"/>
            <a:ext cx="3619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1C2D3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C2D3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C2D3F"/>
                </a:solidFill>
                <a:latin typeface="Arial"/>
                <a:ea typeface="Arial"/>
                <a:cs typeface="Arial"/>
              </a:rPr>
              <a:t>Prompts específicos para</a:t>
            </a:r>
          </a:p>
          <a:p xmlns:a="http://schemas.openxmlformats.org/drawingml/2006/main">
            <a:pPr>
              <a:defRPr sz="1875" b="0">
                <a:solidFill>
                  <a:srgbClr val="1C2D3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C2D3F"/>
                </a:solidFill>
                <a:latin typeface="Arial"/>
                <a:ea typeface="Arial"/>
                <a:cs typeface="Arial"/>
              </a:rPr>
              <a:t>cada atividade de estudo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7EC975F-7FCB-42DA-B1FF-D7BF0D3DA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4019550"/>
            <a:ext cx="3619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1C2D3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C2D3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C2D3F"/>
                </a:solidFill>
                <a:latin typeface="Arial"/>
                <a:ea typeface="Arial"/>
                <a:cs typeface="Arial"/>
              </a:rPr>
              <a:t>Português brasileiro</a:t>
            </a:r>
          </a:p>
          <a:p xmlns:a="http://schemas.openxmlformats.org/drawingml/2006/main">
            <a:pPr>
              <a:defRPr sz="1875" b="0">
                <a:solidFill>
                  <a:srgbClr val="1C2D3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C2D3F"/>
                </a:solidFill>
                <a:latin typeface="Arial"/>
                <a:ea typeface="Arial"/>
                <a:cs typeface="Arial"/>
              </a:rPr>
              <a:t>e estrutura previsível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A725794-30F3-4DE9-BD17-D8D1DABDF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5276850"/>
            <a:ext cx="3619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1">
                <a:solidFill>
                  <a:srgbClr val="1C2D3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C2D3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C2D3F"/>
                </a:solidFill>
                <a:latin typeface="Arial"/>
                <a:ea typeface="Arial"/>
                <a:cs typeface="Arial"/>
              </a:rPr>
              <a:t>Chave somente</a:t>
            </a:r>
          </a:p>
          <a:p xmlns:a="http://schemas.openxmlformats.org/drawingml/2006/main">
            <a:pPr>
              <a:defRPr sz="1875" b="1">
                <a:solidFill>
                  <a:srgbClr val="1C2D3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C2D3F"/>
                </a:solidFill>
                <a:latin typeface="Arial"/>
                <a:ea typeface="Arial"/>
                <a:cs typeface="Arial"/>
              </a:rPr>
              <a:t>no backend</a:t>
            </a:r>
          </a:p>
        </p:txBody>
      </p:sp>
    </p:spTree>
    <p:extLst>
      <p:ext uri="{BB962C8B-B14F-4D97-AF65-F5344CB8AC3E}">
        <p14:creationId xmlns:p14="http://schemas.microsoft.com/office/powerpoint/2010/main" val="47918547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0D149A1-E25C-4348-89ED-F78717CB3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225" b="1">
                <a:solidFill>
                  <a:srgbClr val="1C2D3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1C2D3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C2D3F"/>
                </a:solidFill>
                <a:latin typeface="Arial"/>
                <a:ea typeface="Arial"/>
                <a:cs typeface="Arial"/>
              </a:rPr>
              <a:t>Demonstração do sistema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4D21BC-C3CE-4AF0-8477-AABF4E8F7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28725"/>
            <a:ext cx="5238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00" b="1">
                <a:solidFill>
                  <a:srgbClr val="24568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24568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245680"/>
                </a:solidFill>
                <a:latin typeface="Arial"/>
                <a:ea typeface="Arial"/>
                <a:cs typeface="Arial"/>
              </a:rPr>
              <a:t>Resumo do conteúdo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A8D1334-B300-4785-AFFF-0F89E27FE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1228725"/>
            <a:ext cx="5124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00" b="1">
                <a:solidFill>
                  <a:srgbClr val="24568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24568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245680"/>
                </a:solidFill>
                <a:latin typeface="Arial"/>
                <a:ea typeface="Arial"/>
                <a:cs typeface="Arial"/>
              </a:rPr>
              <a:t>Quiz com correção e explicação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BA801AF-3F49-4921-9F32-CF49538C8B2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d8db87568f4b6e"/>
          <a:stretch xmlns:a="http://schemas.openxmlformats.org/drawingml/2006/main"/>
        </p:blipFill>
        <p:spPr>
          <a:xfrm xmlns:a="http://schemas.openxmlformats.org/drawingml/2006/main">
            <a:off x="816686" y="1876425"/>
            <a:ext cx="4805529" cy="4286250"/>
          </a:xfrm>
          <a:prstGeom xmlns:a="http://schemas.openxmlformats.org/drawingml/2006/main" prst="rect">
            <a:avLst/>
          </a:prstGeom>
        </p:spPr>
      </p:pic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278B1C8-4A6D-40D9-8D96-D6F43FDEE22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9b66062f77e4007"/>
          <a:srcRect xmlns:a="http://schemas.openxmlformats.org/drawingml/2006/main" l="0" t="0" r="0" b="59200"/>
          <a:stretch xmlns:a="http://schemas.openxmlformats.org/drawingml/2006/main"/>
        </p:blipFill>
        <p:spPr>
          <a:xfrm xmlns:a="http://schemas.openxmlformats.org/drawingml/2006/main">
            <a:off x="6457950" y="1876425"/>
            <a:ext cx="5124450" cy="4048125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7081626-5B7B-45FC-BCCD-6AAFAE6DD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10668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00" b="0">
                <a:solidFill>
                  <a:srgbClr val="5261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526173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26173"/>
                </a:solidFill>
                <a:latin typeface="Arial"/>
                <a:ea typeface="Arial"/>
                <a:cs typeface="Arial"/>
              </a:rPr>
              <a:t>Capturas reais com respostas do Gemini</a:t>
            </a:r>
          </a:p>
        </p:txBody>
      </p:sp>
    </p:spTree>
    <p:extLst>
      <p:ext uri="{BB962C8B-B14F-4D97-AF65-F5344CB8AC3E}">
        <p14:creationId xmlns:p14="http://schemas.microsoft.com/office/powerpoint/2010/main" val="140741944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DF34F9C-85D5-4217-83CC-2662FC21E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225" b="1">
                <a:solidFill>
                  <a:srgbClr val="1C2D3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1C2D3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C2D3F"/>
                </a:solidFill>
                <a:latin typeface="Arial"/>
                <a:ea typeface="Arial"/>
                <a:cs typeface="Arial"/>
              </a:rPr>
              <a:t>Resultado e próximos passos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4E7837-FB80-4A10-96DB-A571A8DC9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5048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75" b="1">
                <a:solidFill>
                  <a:srgbClr val="24568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245680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245680"/>
                </a:solidFill>
                <a:latin typeface="Arial"/>
                <a:ea typeface="Arial"/>
                <a:cs typeface="Arial"/>
              </a:rPr>
              <a:t>Produto implementado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129BED-745A-437E-AEC9-A34D8E548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81225"/>
            <a:ext cx="5238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0">
                <a:solidFill>
                  <a:srgbClr val="1C2D3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C2D3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C2D3F"/>
                </a:solidFill>
                <a:latin typeface="Arial"/>
                <a:ea typeface="Arial"/>
                <a:cs typeface="Arial"/>
              </a:rPr>
              <a:t>Quatro atividades de estudo</a:t>
            </a:r>
          </a:p>
          <a:p xmlns:a="http://schemas.openxmlformats.org/drawingml/2006/main">
            <a:pPr>
              <a:defRPr sz="2025" b="0">
                <a:solidFill>
                  <a:srgbClr val="1C2D3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C2D3F"/>
                </a:solidFill>
                <a:latin typeface="Arial"/>
                <a:ea typeface="Arial"/>
                <a:cs typeface="Arial"/>
              </a:rPr>
              <a:t>Frontend Expo e API própria</a:t>
            </a:r>
          </a:p>
          <a:p xmlns:a="http://schemas.openxmlformats.org/drawingml/2006/main">
            <a:pPr>
              <a:defRPr sz="2025" b="0">
                <a:solidFill>
                  <a:srgbClr val="1C2D3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C2D3F"/>
                </a:solidFill>
                <a:latin typeface="Arial"/>
                <a:ea typeface="Arial"/>
                <a:cs typeface="Arial"/>
              </a:rPr>
              <a:t>Integração real com Gemini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B697E6-5D13-4C9C-B139-CCE050A72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600200"/>
            <a:ext cx="4857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75" b="1">
                <a:solidFill>
                  <a:srgbClr val="24568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245680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245680"/>
                </a:solidFill>
                <a:latin typeface="Arial"/>
                <a:ea typeface="Arial"/>
                <a:cs typeface="Arial"/>
              </a:rPr>
              <a:t>Validação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C6F9FF0-74ED-40E0-A482-41485C40F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181225"/>
            <a:ext cx="4972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0">
                <a:solidFill>
                  <a:srgbClr val="1C2D3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C2D3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C2D3F"/>
                </a:solidFill>
                <a:latin typeface="Arial"/>
                <a:ea typeface="Arial"/>
                <a:cs typeface="Arial"/>
              </a:rPr>
              <a:t>48 testes do backend aprovados</a:t>
            </a:r>
          </a:p>
          <a:p xmlns:a="http://schemas.openxmlformats.org/drawingml/2006/main">
            <a:pPr>
              <a:defRPr sz="2025" b="0">
                <a:solidFill>
                  <a:srgbClr val="1C2D3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C2D3F"/>
                </a:solidFill>
                <a:latin typeface="Arial"/>
                <a:ea typeface="Arial"/>
                <a:cs typeface="Arial"/>
              </a:rPr>
              <a:t>TypeScript e builds verificados</a:t>
            </a:r>
          </a:p>
          <a:p xmlns:a="http://schemas.openxmlformats.org/drawingml/2006/main">
            <a:pPr>
              <a:defRPr sz="2025" b="0">
                <a:solidFill>
                  <a:srgbClr val="1C2D3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C2D3F"/>
                </a:solidFill>
                <a:latin typeface="Arial"/>
                <a:ea typeface="Arial"/>
                <a:cs typeface="Arial"/>
              </a:rPr>
              <a:t>Fluxos reais no navegador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06496A6-0F65-4A9B-8D80-5C2441E11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29100"/>
            <a:ext cx="5143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75" b="1">
                <a:solidFill>
                  <a:srgbClr val="24568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245680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245680"/>
                </a:solidFill>
                <a:latin typeface="Arial"/>
                <a:ea typeface="Arial"/>
                <a:cs typeface="Arial"/>
              </a:rPr>
              <a:t>Contribuição da IA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5670547-220B-4B63-99AE-2BC022AE7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91075"/>
            <a:ext cx="523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0">
                <a:solidFill>
                  <a:srgbClr val="1C2D3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C2D3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C2D3F"/>
                </a:solidFill>
                <a:latin typeface="Arial"/>
                <a:ea typeface="Arial"/>
                <a:cs typeface="Arial"/>
              </a:rPr>
              <a:t>Síntese do material e revisão</a:t>
            </a:r>
          </a:p>
          <a:p xmlns:a="http://schemas.openxmlformats.org/drawingml/2006/main">
            <a:pPr>
              <a:defRPr sz="2025" b="0">
                <a:solidFill>
                  <a:srgbClr val="1C2D3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C2D3F"/>
                </a:solidFill>
                <a:latin typeface="Arial"/>
                <a:ea typeface="Arial"/>
                <a:cs typeface="Arial"/>
              </a:rPr>
              <a:t>com feedback imediato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2A52A8-8CB1-4168-AF99-E15DBA3A9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229100"/>
            <a:ext cx="4857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75" b="1">
                <a:solidFill>
                  <a:srgbClr val="24568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245680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245680"/>
                </a:solidFill>
                <a:latin typeface="Arial"/>
                <a:ea typeface="Arial"/>
                <a:cs typeface="Arial"/>
              </a:rPr>
              <a:t>Evoluções possíveis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A353945-960B-4AA8-9978-4D30B20F1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791075"/>
            <a:ext cx="49720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0">
                <a:solidFill>
                  <a:srgbClr val="1C2D3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C2D3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C2D3F"/>
                </a:solidFill>
                <a:latin typeface="Arial"/>
                <a:ea typeface="Arial"/>
                <a:cs typeface="Arial"/>
              </a:rPr>
              <a:t>Histórico de atividades</a:t>
            </a:r>
          </a:p>
          <a:p xmlns:a="http://schemas.openxmlformats.org/drawingml/2006/main">
            <a:pPr>
              <a:defRPr sz="2025" b="0">
                <a:solidFill>
                  <a:srgbClr val="1C2D3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C2D3F"/>
                </a:solidFill>
                <a:latin typeface="Arial"/>
                <a:ea typeface="Arial"/>
                <a:cs typeface="Arial"/>
              </a:rPr>
              <a:t>Acompanhamento do estudo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6AACB9A-72C6-4B19-BEE5-06E15FD6D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5261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526173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26173"/>
                </a:solidFill>
                <a:latin typeface="Arial"/>
                <a:ea typeface="Arial"/>
                <a:cs typeface="Arial"/>
              </a:rPr>
              <a:t>O estudante deve conferir o conteúdo gerado com seu material e professor.</a:t>
            </a:r>
          </a:p>
        </p:txBody>
      </p:sp>
    </p:spTree>
    <p:extLst>
      <p:ext uri="{BB962C8B-B14F-4D97-AF65-F5344CB8AC3E}">
        <p14:creationId xmlns:p14="http://schemas.microsoft.com/office/powerpoint/2010/main" val="166093013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2026-10-04T19:42:02.2010000Z</dcterms:created>
  <dcterms:modified xsi:type="dcterms:W3CDTF">2026-10-04T19:42:02.2010000Z</dcterms:modified>
</coreProperties>
</file>